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143500" cx="9144000"/>
  <p:notesSz cx="6858000" cy="9144000"/>
  <p:embeddedFontLst>
    <p:embeddedFont>
      <p:font typeface="Roboto"/>
      <p:regular r:id="rId9"/>
      <p:bold r:id="rId10"/>
      <p:italic r:id="rId11"/>
      <p:boldItalic r:id="rId12"/>
    </p:embeddedFont>
    <p:embeddedFont>
      <p:font typeface="Tahoma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italic.fntdata"/><Relationship Id="rId10" Type="http://schemas.openxmlformats.org/officeDocument/2006/relationships/font" Target="fonts/Roboto-bold.fntdata"/><Relationship Id="rId13" Type="http://schemas.openxmlformats.org/officeDocument/2006/relationships/font" Target="fonts/Tahoma-regular.fntdata"/><Relationship Id="rId12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oboto-regular.fntdata"/><Relationship Id="rId14" Type="http://schemas.openxmlformats.org/officeDocument/2006/relationships/font" Target="fonts/Tahom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8b58ea596f_0_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" name="Google Shape;11;g38b58ea596f_0_1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g38b58ea596f_0_1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dcdd9a633d_0_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g3dcdd9a633d_0_5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g3dcdd9a633d_0_5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2eba5de83_6_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d2eba5de83_6_4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d2eba5de83_6_4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2eba5de83_4_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d2eba5de83_4_4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d2eba5de83_4_4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595309" y="4900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900">
                <a:latin typeface="Roboto"/>
                <a:ea typeface="Roboto"/>
                <a:cs typeface="Roboto"/>
                <a:sym typeface="Roboto"/>
              </a:defRPr>
            </a:lvl1pPr>
            <a:lvl2pPr lvl="1">
              <a:buNone/>
              <a:defRPr sz="900">
                <a:latin typeface="Roboto"/>
                <a:ea typeface="Roboto"/>
                <a:cs typeface="Roboto"/>
                <a:sym typeface="Roboto"/>
              </a:defRPr>
            </a:lvl2pPr>
            <a:lvl3pPr lvl="2">
              <a:buNone/>
              <a:defRPr sz="900">
                <a:latin typeface="Roboto"/>
                <a:ea typeface="Roboto"/>
                <a:cs typeface="Roboto"/>
                <a:sym typeface="Roboto"/>
              </a:defRPr>
            </a:lvl3pPr>
            <a:lvl4pPr lvl="3">
              <a:buNone/>
              <a:defRPr sz="900">
                <a:latin typeface="Roboto"/>
                <a:ea typeface="Roboto"/>
                <a:cs typeface="Roboto"/>
                <a:sym typeface="Roboto"/>
              </a:defRPr>
            </a:lvl4pPr>
            <a:lvl5pPr lvl="4">
              <a:buNone/>
              <a:defRPr sz="900">
                <a:latin typeface="Roboto"/>
                <a:ea typeface="Roboto"/>
                <a:cs typeface="Roboto"/>
                <a:sym typeface="Roboto"/>
              </a:defRPr>
            </a:lvl5pPr>
            <a:lvl6pPr lvl="5">
              <a:buNone/>
              <a:defRPr sz="900">
                <a:latin typeface="Roboto"/>
                <a:ea typeface="Roboto"/>
                <a:cs typeface="Roboto"/>
                <a:sym typeface="Roboto"/>
              </a:defRPr>
            </a:lvl6pPr>
            <a:lvl7pPr lvl="6">
              <a:buNone/>
              <a:defRPr sz="900">
                <a:latin typeface="Roboto"/>
                <a:ea typeface="Roboto"/>
                <a:cs typeface="Roboto"/>
                <a:sym typeface="Roboto"/>
              </a:defRPr>
            </a:lvl7pPr>
            <a:lvl8pPr lvl="7">
              <a:buNone/>
              <a:defRPr sz="900">
                <a:latin typeface="Roboto"/>
                <a:ea typeface="Roboto"/>
                <a:cs typeface="Roboto"/>
                <a:sym typeface="Roboto"/>
              </a:defRPr>
            </a:lvl8pPr>
            <a:lvl9pPr lvl="8">
              <a:buNone/>
              <a:defRPr sz="9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3C55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/>
        </p:nvSpPr>
        <p:spPr>
          <a:xfrm>
            <a:off x="542031" y="3521834"/>
            <a:ext cx="300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April 2026 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6211083" y="0"/>
            <a:ext cx="2921700" cy="5143500"/>
          </a:xfrm>
          <a:prstGeom prst="rect">
            <a:avLst/>
          </a:prstGeom>
          <a:solidFill>
            <a:srgbClr val="0F2440"/>
          </a:solidFill>
          <a:ln cap="flat" cmpd="sng" w="12700">
            <a:solidFill>
              <a:srgbClr val="0F2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6199632" y="0"/>
            <a:ext cx="22800" cy="5143500"/>
          </a:xfrm>
          <a:prstGeom prst="rect">
            <a:avLst/>
          </a:prstGeom>
          <a:solidFill>
            <a:srgbClr val="C4973F"/>
          </a:solidFill>
          <a:ln cap="flat" cmpd="sng" w="12700">
            <a:solidFill>
              <a:srgbClr val="C497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580376" y="502920"/>
            <a:ext cx="36600" cy="36600"/>
          </a:xfrm>
          <a:prstGeom prst="ellipse">
            <a:avLst/>
          </a:prstGeom>
          <a:solidFill>
            <a:srgbClr val="1E3A5A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94360" y="2094351"/>
            <a:ext cx="548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973F"/>
              </a:buClr>
              <a:buSzPts val="1100"/>
              <a:buFont typeface="Calibri"/>
              <a:buNone/>
            </a:pPr>
            <a:r>
              <a:rPr b="1" lang="en" sz="1200">
                <a:solidFill>
                  <a:srgbClr val="C4973F"/>
                </a:solidFill>
                <a:latin typeface="Tahoma"/>
                <a:ea typeface="Tahoma"/>
                <a:cs typeface="Tahoma"/>
                <a:sym typeface="Tahoma"/>
              </a:rPr>
              <a:t>Case Study</a:t>
            </a:r>
            <a:endParaRPr b="1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94360" y="2405247"/>
            <a:ext cx="54864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" sz="2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Increasing Incomes of</a:t>
            </a:r>
            <a:endParaRPr b="1" sz="2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" sz="2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Smallholder Farmers</a:t>
            </a:r>
            <a:endParaRPr b="1" sz="2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17479" y="4796028"/>
            <a:ext cx="1828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2AA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C4973F"/>
                </a:solidFill>
                <a:latin typeface="Calibri"/>
                <a:ea typeface="Calibri"/>
                <a:cs typeface="Calibri"/>
                <a:sym typeface="Calibri"/>
              </a:rPr>
              <a:t>raisingimpact.org</a:t>
            </a:r>
            <a:endParaRPr b="0" i="0" sz="750" u="none" cap="none" strike="noStrike">
              <a:solidFill>
                <a:srgbClr val="C497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" name="Google Shape;21;p3"/>
          <p:cNvGrpSpPr/>
          <p:nvPr/>
        </p:nvGrpSpPr>
        <p:grpSpPr>
          <a:xfrm>
            <a:off x="256025" y="463275"/>
            <a:ext cx="6054782" cy="729600"/>
            <a:chOff x="256025" y="463275"/>
            <a:chExt cx="6054782" cy="729600"/>
          </a:xfrm>
        </p:grpSpPr>
        <p:sp>
          <p:nvSpPr>
            <p:cNvPr id="22" name="Google Shape;22;p3"/>
            <p:cNvSpPr/>
            <p:nvPr/>
          </p:nvSpPr>
          <p:spPr>
            <a:xfrm>
              <a:off x="1271016" y="482529"/>
              <a:ext cx="4114800" cy="4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Calibri"/>
                <a:buNone/>
              </a:pPr>
              <a:r>
                <a:rPr b="1" i="0" lang="en" sz="2200" u="none" cap="none" strike="noStrike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rPr>
                <a:t>Raising Impact</a:t>
              </a:r>
              <a:endParaRPr i="0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1281607" y="843765"/>
              <a:ext cx="50292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8E0D0"/>
                </a:buClr>
                <a:buSzPts val="1300"/>
                <a:buFont typeface="Calibri"/>
                <a:buNone/>
              </a:pPr>
              <a:r>
                <a:rPr b="0" i="1" lang="en" sz="1300" u="none" cap="none" strike="noStrike">
                  <a:solidFill>
                    <a:srgbClr val="C09D4B"/>
                  </a:solidFill>
                  <a:latin typeface="Calibri"/>
                  <a:ea typeface="Calibri"/>
                  <a:cs typeface="Calibri"/>
                  <a:sym typeface="Calibri"/>
                </a:rPr>
                <a:t>Guiding Philanthropy with Rigour</a:t>
              </a:r>
              <a:endParaRPr b="0" i="0" sz="1300" u="none" cap="none" strike="noStrike">
                <a:solidFill>
                  <a:srgbClr val="C09D4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1281607" y="1136373"/>
              <a:ext cx="1645800" cy="22800"/>
            </a:xfrm>
            <a:prstGeom prst="rect">
              <a:avLst/>
            </a:prstGeom>
            <a:solidFill>
              <a:srgbClr val="C4973F"/>
            </a:solidFill>
            <a:ln cap="flat" cmpd="sng" w="12700">
              <a:solidFill>
                <a:srgbClr val="C497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" name="Google Shape;25;p3"/>
            <p:cNvGrpSpPr/>
            <p:nvPr/>
          </p:nvGrpSpPr>
          <p:grpSpPr>
            <a:xfrm>
              <a:off x="256025" y="463275"/>
              <a:ext cx="764865" cy="729600"/>
              <a:chOff x="256025" y="463275"/>
              <a:chExt cx="764865" cy="729600"/>
            </a:xfrm>
          </p:grpSpPr>
          <p:sp>
            <p:nvSpPr>
              <p:cNvPr id="26" name="Google Shape;26;p3"/>
              <p:cNvSpPr/>
              <p:nvPr/>
            </p:nvSpPr>
            <p:spPr>
              <a:xfrm>
                <a:off x="281690" y="463275"/>
                <a:ext cx="739200" cy="729600"/>
              </a:xfrm>
              <a:prstGeom prst="ellipse">
                <a:avLst/>
              </a:prstGeom>
              <a:solidFill>
                <a:srgbClr val="FFFFFF"/>
              </a:solidFill>
              <a:ln cap="flat" cmpd="sng" w="5500">
                <a:solidFill>
                  <a:srgbClr val="44546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2825" lIns="52825" spcFirstLastPara="1" rIns="52825" wrap="square" tIns="52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9"/>
              </a:p>
            </p:txBody>
          </p:sp>
          <p:pic>
            <p:nvPicPr>
              <p:cNvPr id="27" name="Google Shape;27;p3" title="RIO Logo.png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56025" y="591928"/>
                <a:ext cx="739205" cy="52911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8595309" y="4900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4"/>
          <p:cNvGrpSpPr/>
          <p:nvPr/>
        </p:nvGrpSpPr>
        <p:grpSpPr>
          <a:xfrm flipH="1" rot="5400000">
            <a:off x="-2527611" y="2518722"/>
            <a:ext cx="5143534" cy="88872"/>
            <a:chOff x="0" y="0"/>
            <a:chExt cx="9144060" cy="164700"/>
          </a:xfrm>
        </p:grpSpPr>
        <p:sp>
          <p:nvSpPr>
            <p:cNvPr id="35" name="Google Shape;35;p4"/>
            <p:cNvSpPr/>
            <p:nvPr/>
          </p:nvSpPr>
          <p:spPr>
            <a:xfrm>
              <a:off x="0" y="0"/>
              <a:ext cx="914400" cy="164700"/>
            </a:xfrm>
            <a:prstGeom prst="rect">
              <a:avLst/>
            </a:prstGeom>
            <a:solidFill>
              <a:srgbClr val="203C55"/>
            </a:solidFill>
            <a:ln cap="flat" cmpd="sng" w="6850">
              <a:solidFill>
                <a:srgbClr val="203C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25" lIns="49325" spcFirstLastPara="1" rIns="49325" wrap="square" tIns="4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914400" y="0"/>
              <a:ext cx="2377500" cy="164700"/>
            </a:xfrm>
            <a:prstGeom prst="rect">
              <a:avLst/>
            </a:prstGeom>
            <a:solidFill>
              <a:srgbClr val="3A6D9C">
                <a:alpha val="65100"/>
              </a:srgbClr>
            </a:solidFill>
            <a:ln cap="flat" cmpd="sng" w="6850">
              <a:solidFill>
                <a:srgbClr val="3A6D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25" lIns="49325" spcFirstLastPara="1" rIns="49325" wrap="square" tIns="4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3291840" y="0"/>
              <a:ext cx="1463100" cy="164700"/>
            </a:xfrm>
            <a:prstGeom prst="rect">
              <a:avLst/>
            </a:prstGeom>
            <a:solidFill>
              <a:srgbClr val="C09D4B"/>
            </a:solidFill>
            <a:ln cap="flat" cmpd="sng" w="6850">
              <a:solidFill>
                <a:srgbClr val="C09D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25" lIns="49325" spcFirstLastPara="1" rIns="49325" wrap="square" tIns="4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4754880" y="0"/>
              <a:ext cx="457200" cy="164700"/>
            </a:xfrm>
            <a:prstGeom prst="rect">
              <a:avLst/>
            </a:prstGeom>
            <a:solidFill>
              <a:srgbClr val="C09D4B">
                <a:alpha val="74900"/>
              </a:srgbClr>
            </a:solidFill>
            <a:ln cap="flat" cmpd="sng" w="6850">
              <a:solidFill>
                <a:srgbClr val="C09D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25" lIns="49325" spcFirstLastPara="1" rIns="49325" wrap="square" tIns="4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5212080" y="0"/>
              <a:ext cx="2469000" cy="164700"/>
            </a:xfrm>
            <a:prstGeom prst="rect">
              <a:avLst/>
            </a:prstGeom>
            <a:solidFill>
              <a:srgbClr val="203C55"/>
            </a:solidFill>
            <a:ln cap="flat" cmpd="sng" w="6850">
              <a:solidFill>
                <a:srgbClr val="203C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25" lIns="49325" spcFirstLastPara="1" rIns="49325" wrap="square" tIns="4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7680960" y="0"/>
              <a:ext cx="1463100" cy="164700"/>
            </a:xfrm>
            <a:prstGeom prst="rect">
              <a:avLst/>
            </a:prstGeom>
            <a:solidFill>
              <a:srgbClr val="C09D4B"/>
            </a:solidFill>
            <a:ln cap="flat" cmpd="sng" w="6850">
              <a:solidFill>
                <a:srgbClr val="C09D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25" lIns="49325" spcFirstLastPara="1" rIns="49325" wrap="square" tIns="4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" name="Google Shape;41;p4"/>
          <p:cNvSpPr/>
          <p:nvPr/>
        </p:nvSpPr>
        <p:spPr>
          <a:xfrm>
            <a:off x="142525" y="87032"/>
            <a:ext cx="8887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C55"/>
              </a:buClr>
              <a:buSzPts val="2200"/>
              <a:buFont typeface="Roboto Serif"/>
              <a:buNone/>
            </a:pPr>
            <a:r>
              <a:rPr b="1" lang="en" sz="2000">
                <a:solidFill>
                  <a:srgbClr val="203C55"/>
                </a:solidFill>
                <a:latin typeface="Tahoma"/>
                <a:ea typeface="Tahoma"/>
                <a:cs typeface="Tahoma"/>
                <a:sym typeface="Tahoma"/>
              </a:rPr>
              <a:t>Table of Contents</a:t>
            </a:r>
            <a:endParaRPr b="1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2" name="Google Shape;42;p4"/>
          <p:cNvGrpSpPr/>
          <p:nvPr/>
        </p:nvGrpSpPr>
        <p:grpSpPr>
          <a:xfrm>
            <a:off x="226256" y="1111178"/>
            <a:ext cx="4038378" cy="694098"/>
            <a:chOff x="1406859" y="1240083"/>
            <a:chExt cx="5122895" cy="880500"/>
          </a:xfrm>
        </p:grpSpPr>
        <p:grpSp>
          <p:nvGrpSpPr>
            <p:cNvPr id="43" name="Google Shape;43;p4"/>
            <p:cNvGrpSpPr/>
            <p:nvPr/>
          </p:nvGrpSpPr>
          <p:grpSpPr>
            <a:xfrm>
              <a:off x="1406859" y="1240083"/>
              <a:ext cx="5122895" cy="880500"/>
              <a:chOff x="4970675" y="982175"/>
              <a:chExt cx="5122895" cy="880500"/>
            </a:xfrm>
          </p:grpSpPr>
          <p:sp>
            <p:nvSpPr>
              <p:cNvPr id="44" name="Google Shape;44;p4"/>
              <p:cNvSpPr/>
              <p:nvPr/>
            </p:nvSpPr>
            <p:spPr>
              <a:xfrm flipH="1">
                <a:off x="6092170" y="982175"/>
                <a:ext cx="4001400" cy="880500"/>
              </a:xfrm>
              <a:prstGeom prst="roundRect">
                <a:avLst>
                  <a:gd fmla="val 16667" name="adj"/>
                </a:avLst>
              </a:prstGeom>
              <a:solidFill>
                <a:srgbClr val="D2B980"/>
              </a:solidFill>
              <a:ln>
                <a:noFill/>
              </a:ln>
            </p:spPr>
            <p:txBody>
              <a:bodyPr anchorCtr="0" anchor="ctr" bIns="72075" lIns="72075" spcFirstLastPara="1" rIns="72075" wrap="square" tIns="72075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19"/>
                  <a:buFont typeface="Calibri"/>
                  <a:buNone/>
                </a:pPr>
                <a:r>
                  <a:t/>
                </a:r>
                <a:endParaRPr b="0" i="0" sz="141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 flipH="1">
                <a:off x="4970675" y="988487"/>
                <a:ext cx="901500" cy="867900"/>
              </a:xfrm>
              <a:prstGeom prst="roundRect">
                <a:avLst>
                  <a:gd fmla="val 16667" name="adj"/>
                </a:avLst>
              </a:prstGeom>
              <a:solidFill>
                <a:srgbClr val="2A4A60"/>
              </a:solidFill>
              <a:ln>
                <a:noFill/>
              </a:ln>
            </p:spPr>
            <p:txBody>
              <a:bodyPr anchorCtr="0" anchor="ctr" bIns="72075" lIns="72075" spcFirstLastPara="1" rIns="72075" wrap="square" tIns="720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365"/>
                  <a:buFont typeface="Geo"/>
                  <a:buNone/>
                </a:pPr>
                <a:r>
                  <a:rPr b="1" i="0" lang="en" sz="2365" u="none" cap="none" strike="noStrike">
                    <a:solidFill>
                      <a:srgbClr val="FFFFFF"/>
                    </a:solidFill>
                    <a:latin typeface="Tahoma"/>
                    <a:ea typeface="Tahoma"/>
                    <a:cs typeface="Tahoma"/>
                    <a:sym typeface="Tahoma"/>
                  </a:rPr>
                  <a:t>01</a:t>
                </a:r>
                <a:endParaRPr b="1" i="0" sz="2365" u="none" cap="none" strike="noStrike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46" name="Google Shape;46;p4"/>
              <p:cNvCxnSpPr>
                <a:endCxn id="45" idx="1"/>
              </p:cNvCxnSpPr>
              <p:nvPr/>
            </p:nvCxnSpPr>
            <p:spPr>
              <a:xfrm rot="10800000">
                <a:off x="5872175" y="1422437"/>
                <a:ext cx="219900" cy="0"/>
              </a:xfrm>
              <a:prstGeom prst="straightConnector1">
                <a:avLst/>
              </a:prstGeom>
              <a:noFill/>
              <a:ln cap="flat" cmpd="sng" w="150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7" name="Google Shape;47;p4"/>
            <p:cNvSpPr txBox="1"/>
            <p:nvPr/>
          </p:nvSpPr>
          <p:spPr>
            <a:xfrm>
              <a:off x="2600572" y="1496760"/>
              <a:ext cx="37767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025" lIns="72075" spcFirstLastPara="1" rIns="72075" wrap="square" tIns="360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46">
                  <a:solidFill>
                    <a:schemeClr val="dk1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RIO as a Strategic Partner</a:t>
              </a:r>
              <a:endParaRPr i="0" sz="1246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" name="Google Shape;48;p4"/>
          <p:cNvGrpSpPr/>
          <p:nvPr/>
        </p:nvGrpSpPr>
        <p:grpSpPr>
          <a:xfrm>
            <a:off x="226256" y="2489652"/>
            <a:ext cx="4038378" cy="694098"/>
            <a:chOff x="4970675" y="982175"/>
            <a:chExt cx="5122895" cy="880500"/>
          </a:xfrm>
        </p:grpSpPr>
        <p:sp>
          <p:nvSpPr>
            <p:cNvPr id="49" name="Google Shape;49;p4"/>
            <p:cNvSpPr/>
            <p:nvPr/>
          </p:nvSpPr>
          <p:spPr>
            <a:xfrm flipH="1">
              <a:off x="6092170" y="982175"/>
              <a:ext cx="4001400" cy="880500"/>
            </a:xfrm>
            <a:prstGeom prst="roundRect">
              <a:avLst>
                <a:gd fmla="val 16667" name="adj"/>
              </a:avLst>
            </a:prstGeom>
            <a:solidFill>
              <a:srgbClr val="D2B980"/>
            </a:solidFill>
            <a:ln>
              <a:noFill/>
            </a:ln>
          </p:spPr>
          <p:txBody>
            <a:bodyPr anchorCtr="0" anchor="ctr" bIns="72075" lIns="72075" spcFirstLastPara="1" rIns="72075" wrap="square" tIns="7207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19"/>
                <a:buFont typeface="Calibri"/>
                <a:buNone/>
              </a:pPr>
              <a:r>
                <a:t/>
              </a:r>
              <a:endParaRPr b="0" i="0" sz="141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 flipH="1">
              <a:off x="4970675" y="988487"/>
              <a:ext cx="901500" cy="867900"/>
            </a:xfrm>
            <a:prstGeom prst="roundRect">
              <a:avLst>
                <a:gd fmla="val 16667" name="adj"/>
              </a:avLst>
            </a:prstGeom>
            <a:solidFill>
              <a:srgbClr val="2A4A60"/>
            </a:solidFill>
            <a:ln>
              <a:noFill/>
            </a:ln>
          </p:spPr>
          <p:txBody>
            <a:bodyPr anchorCtr="0" anchor="ctr" bIns="72075" lIns="72075" spcFirstLastPara="1" rIns="72075" wrap="square" tIns="72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365"/>
                <a:buFont typeface="Geo"/>
                <a:buNone/>
              </a:pPr>
              <a:r>
                <a:rPr b="1" i="0" lang="en" sz="2365" u="none" cap="none" strike="noStrike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rPr>
                <a:t>02</a:t>
              </a:r>
              <a:endParaRPr b="1" i="0" sz="2365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51" name="Google Shape;51;p4"/>
            <p:cNvCxnSpPr>
              <a:endCxn id="50" idx="1"/>
            </p:cNvCxnSpPr>
            <p:nvPr/>
          </p:nvCxnSpPr>
          <p:spPr>
            <a:xfrm rot="10800000">
              <a:off x="5872175" y="1422437"/>
              <a:ext cx="219900" cy="0"/>
            </a:xfrm>
            <a:prstGeom prst="straightConnector1">
              <a:avLst/>
            </a:prstGeom>
            <a:noFill/>
            <a:ln cap="flat" cmpd="sng" w="15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2" name="Google Shape;52;p4"/>
          <p:cNvGrpSpPr/>
          <p:nvPr/>
        </p:nvGrpSpPr>
        <p:grpSpPr>
          <a:xfrm>
            <a:off x="226256" y="3868127"/>
            <a:ext cx="4038378" cy="694098"/>
            <a:chOff x="1406859" y="1240083"/>
            <a:chExt cx="5122895" cy="880500"/>
          </a:xfrm>
        </p:grpSpPr>
        <p:grpSp>
          <p:nvGrpSpPr>
            <p:cNvPr id="53" name="Google Shape;53;p4"/>
            <p:cNvGrpSpPr/>
            <p:nvPr/>
          </p:nvGrpSpPr>
          <p:grpSpPr>
            <a:xfrm>
              <a:off x="1406859" y="1240083"/>
              <a:ext cx="5122895" cy="880500"/>
              <a:chOff x="4970675" y="982175"/>
              <a:chExt cx="5122895" cy="880500"/>
            </a:xfrm>
          </p:grpSpPr>
          <p:sp>
            <p:nvSpPr>
              <p:cNvPr id="54" name="Google Shape;54;p4"/>
              <p:cNvSpPr/>
              <p:nvPr/>
            </p:nvSpPr>
            <p:spPr>
              <a:xfrm flipH="1">
                <a:off x="6092170" y="982175"/>
                <a:ext cx="4001400" cy="880500"/>
              </a:xfrm>
              <a:prstGeom prst="roundRect">
                <a:avLst>
                  <a:gd fmla="val 16667" name="adj"/>
                </a:avLst>
              </a:prstGeom>
              <a:solidFill>
                <a:srgbClr val="D2B980"/>
              </a:solidFill>
              <a:ln>
                <a:noFill/>
              </a:ln>
            </p:spPr>
            <p:txBody>
              <a:bodyPr anchorCtr="0" anchor="ctr" bIns="72075" lIns="72075" spcFirstLastPara="1" rIns="72075" wrap="square" tIns="72075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19"/>
                  <a:buFont typeface="Calibri"/>
                  <a:buNone/>
                </a:pPr>
                <a:r>
                  <a:t/>
                </a:r>
                <a:endParaRPr b="0" i="0" sz="141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 flipH="1">
                <a:off x="4970675" y="988466"/>
                <a:ext cx="901500" cy="867900"/>
              </a:xfrm>
              <a:prstGeom prst="roundRect">
                <a:avLst>
                  <a:gd fmla="val 16667" name="adj"/>
                </a:avLst>
              </a:prstGeom>
              <a:solidFill>
                <a:srgbClr val="2A4A60"/>
              </a:solidFill>
              <a:ln>
                <a:noFill/>
              </a:ln>
            </p:spPr>
            <p:txBody>
              <a:bodyPr anchorCtr="0" anchor="ctr" bIns="72075" lIns="72075" spcFirstLastPara="1" rIns="72075" wrap="square" tIns="720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365"/>
                  <a:buFont typeface="Geo"/>
                  <a:buNone/>
                </a:pPr>
                <a:r>
                  <a:rPr b="1" i="0" lang="en" sz="2365" u="none" cap="none" strike="noStrike">
                    <a:solidFill>
                      <a:srgbClr val="FFFFFF"/>
                    </a:solidFill>
                    <a:latin typeface="Tahoma"/>
                    <a:ea typeface="Tahoma"/>
                    <a:cs typeface="Tahoma"/>
                    <a:sym typeface="Tahoma"/>
                  </a:rPr>
                  <a:t>03</a:t>
                </a:r>
                <a:endParaRPr b="1" i="0" sz="2365" u="none" cap="none" strike="noStrike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56" name="Google Shape;56;p4"/>
              <p:cNvCxnSpPr>
                <a:endCxn id="55" idx="1"/>
              </p:cNvCxnSpPr>
              <p:nvPr/>
            </p:nvCxnSpPr>
            <p:spPr>
              <a:xfrm rot="10800000">
                <a:off x="5872175" y="1422416"/>
                <a:ext cx="219900" cy="0"/>
              </a:xfrm>
              <a:prstGeom prst="straightConnector1">
                <a:avLst/>
              </a:prstGeom>
              <a:noFill/>
              <a:ln cap="flat" cmpd="sng" w="150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57" name="Google Shape;57;p4"/>
            <p:cNvSpPr txBox="1"/>
            <p:nvPr/>
          </p:nvSpPr>
          <p:spPr>
            <a:xfrm>
              <a:off x="2600572" y="1395008"/>
              <a:ext cx="3776700" cy="56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025" lIns="72075" spcFirstLastPara="1" rIns="72075" wrap="square" tIns="360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Annexure 1 - </a:t>
              </a:r>
              <a:r>
                <a:rPr b="1" lang="en" sz="1200">
                  <a:solidFill>
                    <a:schemeClr val="dk1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The Income Problem for Marginal &amp; Smallholder Farmers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8" name="Google Shape;58;p4"/>
          <p:cNvGrpSpPr/>
          <p:nvPr/>
        </p:nvGrpSpPr>
        <p:grpSpPr>
          <a:xfrm>
            <a:off x="4809941" y="1111178"/>
            <a:ext cx="4038378" cy="694098"/>
            <a:chOff x="1406859" y="1240083"/>
            <a:chExt cx="5122895" cy="880500"/>
          </a:xfrm>
        </p:grpSpPr>
        <p:grpSp>
          <p:nvGrpSpPr>
            <p:cNvPr id="59" name="Google Shape;59;p4"/>
            <p:cNvGrpSpPr/>
            <p:nvPr/>
          </p:nvGrpSpPr>
          <p:grpSpPr>
            <a:xfrm>
              <a:off x="1406859" y="1240083"/>
              <a:ext cx="5122895" cy="880500"/>
              <a:chOff x="4970675" y="982175"/>
              <a:chExt cx="5122895" cy="880500"/>
            </a:xfrm>
          </p:grpSpPr>
          <p:sp>
            <p:nvSpPr>
              <p:cNvPr id="60" name="Google Shape;60;p4"/>
              <p:cNvSpPr/>
              <p:nvPr/>
            </p:nvSpPr>
            <p:spPr>
              <a:xfrm flipH="1">
                <a:off x="6092170" y="982175"/>
                <a:ext cx="4001400" cy="880500"/>
              </a:xfrm>
              <a:prstGeom prst="roundRect">
                <a:avLst>
                  <a:gd fmla="val 16667" name="adj"/>
                </a:avLst>
              </a:prstGeom>
              <a:solidFill>
                <a:srgbClr val="D2B980"/>
              </a:solidFill>
              <a:ln>
                <a:noFill/>
              </a:ln>
            </p:spPr>
            <p:txBody>
              <a:bodyPr anchorCtr="0" anchor="ctr" bIns="72075" lIns="72075" spcFirstLastPara="1" rIns="72075" wrap="square" tIns="72075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19"/>
                  <a:buFont typeface="Calibri"/>
                  <a:buNone/>
                </a:pPr>
                <a:r>
                  <a:t/>
                </a:r>
                <a:endParaRPr i="0" sz="1419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 flipH="1">
                <a:off x="4970675" y="988487"/>
                <a:ext cx="901500" cy="867900"/>
              </a:xfrm>
              <a:prstGeom prst="roundRect">
                <a:avLst>
                  <a:gd fmla="val 16667" name="adj"/>
                </a:avLst>
              </a:prstGeom>
              <a:solidFill>
                <a:srgbClr val="2A4A60"/>
              </a:solidFill>
              <a:ln>
                <a:noFill/>
              </a:ln>
            </p:spPr>
            <p:txBody>
              <a:bodyPr anchorCtr="0" anchor="ctr" bIns="72075" lIns="72075" spcFirstLastPara="1" rIns="72075" wrap="square" tIns="720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365"/>
                  <a:buFont typeface="Geo"/>
                  <a:buNone/>
                </a:pPr>
                <a:r>
                  <a:rPr b="1" i="0" lang="en" sz="2365" u="none" cap="none" strike="noStrike">
                    <a:solidFill>
                      <a:srgbClr val="FFFFFF"/>
                    </a:solidFill>
                    <a:latin typeface="Tahoma"/>
                    <a:ea typeface="Tahoma"/>
                    <a:cs typeface="Tahoma"/>
                    <a:sym typeface="Tahoma"/>
                  </a:rPr>
                  <a:t>04</a:t>
                </a:r>
                <a:endParaRPr b="1" i="0" sz="2365" u="none" cap="none" strike="noStrike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62" name="Google Shape;62;p4"/>
              <p:cNvCxnSpPr>
                <a:endCxn id="61" idx="1"/>
              </p:cNvCxnSpPr>
              <p:nvPr/>
            </p:nvCxnSpPr>
            <p:spPr>
              <a:xfrm rot="10800000">
                <a:off x="5872175" y="1422437"/>
                <a:ext cx="219900" cy="0"/>
              </a:xfrm>
              <a:prstGeom prst="straightConnector1">
                <a:avLst/>
              </a:prstGeom>
              <a:noFill/>
              <a:ln cap="flat" cmpd="sng" w="150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63" name="Google Shape;63;p4"/>
            <p:cNvSpPr txBox="1"/>
            <p:nvPr/>
          </p:nvSpPr>
          <p:spPr>
            <a:xfrm>
              <a:off x="2600572" y="1407727"/>
              <a:ext cx="3776700" cy="56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025" lIns="72075" spcFirstLastPara="1" rIns="72075" wrap="square" tIns="360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Annexure 2 - Diversification as the Solution Pathway to Enhance Incomes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4" name="Google Shape;64;p4"/>
          <p:cNvGrpSpPr/>
          <p:nvPr/>
        </p:nvGrpSpPr>
        <p:grpSpPr>
          <a:xfrm>
            <a:off x="4809941" y="2489652"/>
            <a:ext cx="4038378" cy="694098"/>
            <a:chOff x="1406859" y="1240083"/>
            <a:chExt cx="5122895" cy="880500"/>
          </a:xfrm>
        </p:grpSpPr>
        <p:grpSp>
          <p:nvGrpSpPr>
            <p:cNvPr id="65" name="Google Shape;65;p4"/>
            <p:cNvGrpSpPr/>
            <p:nvPr/>
          </p:nvGrpSpPr>
          <p:grpSpPr>
            <a:xfrm>
              <a:off x="1406859" y="1240083"/>
              <a:ext cx="5122895" cy="880500"/>
              <a:chOff x="4970675" y="982175"/>
              <a:chExt cx="5122895" cy="880500"/>
            </a:xfrm>
          </p:grpSpPr>
          <p:sp>
            <p:nvSpPr>
              <p:cNvPr id="66" name="Google Shape;66;p4"/>
              <p:cNvSpPr/>
              <p:nvPr/>
            </p:nvSpPr>
            <p:spPr>
              <a:xfrm flipH="1">
                <a:off x="6092170" y="982175"/>
                <a:ext cx="4001400" cy="880500"/>
              </a:xfrm>
              <a:prstGeom prst="roundRect">
                <a:avLst>
                  <a:gd fmla="val 16667" name="adj"/>
                </a:avLst>
              </a:prstGeom>
              <a:solidFill>
                <a:srgbClr val="D2B980"/>
              </a:solidFill>
              <a:ln>
                <a:noFill/>
              </a:ln>
            </p:spPr>
            <p:txBody>
              <a:bodyPr anchorCtr="0" anchor="ctr" bIns="72075" lIns="72075" spcFirstLastPara="1" rIns="72075" wrap="square" tIns="72075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19"/>
                  <a:buFont typeface="Calibri"/>
                  <a:buNone/>
                </a:pPr>
                <a:r>
                  <a:t/>
                </a:r>
                <a:endParaRPr i="0" sz="1419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 flipH="1">
                <a:off x="4970675" y="988487"/>
                <a:ext cx="901500" cy="867900"/>
              </a:xfrm>
              <a:prstGeom prst="roundRect">
                <a:avLst>
                  <a:gd fmla="val 16667" name="adj"/>
                </a:avLst>
              </a:prstGeom>
              <a:solidFill>
                <a:srgbClr val="2A4A60"/>
              </a:solidFill>
              <a:ln>
                <a:noFill/>
              </a:ln>
            </p:spPr>
            <p:txBody>
              <a:bodyPr anchorCtr="0" anchor="ctr" bIns="72075" lIns="72075" spcFirstLastPara="1" rIns="72075" wrap="square" tIns="720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365"/>
                  <a:buFont typeface="Geo"/>
                  <a:buNone/>
                </a:pPr>
                <a:r>
                  <a:rPr b="1" i="0" lang="en" sz="2365" u="none" cap="none" strike="noStrike">
                    <a:solidFill>
                      <a:srgbClr val="FFFFFF"/>
                    </a:solidFill>
                    <a:latin typeface="Tahoma"/>
                    <a:ea typeface="Tahoma"/>
                    <a:cs typeface="Tahoma"/>
                    <a:sym typeface="Tahoma"/>
                  </a:rPr>
                  <a:t>05</a:t>
                </a:r>
                <a:endParaRPr b="1" i="0" sz="2365" u="none" cap="none" strike="noStrike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68" name="Google Shape;68;p4"/>
              <p:cNvCxnSpPr>
                <a:endCxn id="67" idx="1"/>
              </p:cNvCxnSpPr>
              <p:nvPr/>
            </p:nvCxnSpPr>
            <p:spPr>
              <a:xfrm rot="10800000">
                <a:off x="5872175" y="1422437"/>
                <a:ext cx="219900" cy="0"/>
              </a:xfrm>
              <a:prstGeom prst="straightConnector1">
                <a:avLst/>
              </a:prstGeom>
              <a:noFill/>
              <a:ln cap="flat" cmpd="sng" w="150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69" name="Google Shape;69;p4"/>
            <p:cNvSpPr txBox="1"/>
            <p:nvPr/>
          </p:nvSpPr>
          <p:spPr>
            <a:xfrm>
              <a:off x="2600572" y="1395008"/>
              <a:ext cx="3776700" cy="56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025" lIns="72075" spcFirstLastPara="1" rIns="72075" wrap="square" tIns="360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Annexure 3 - Evaluation Parameters for the Grant Call</a:t>
              </a:r>
              <a:endParaRPr sz="946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0" name="Google Shape;70;p4"/>
          <p:cNvSpPr txBox="1"/>
          <p:nvPr/>
        </p:nvSpPr>
        <p:spPr>
          <a:xfrm>
            <a:off x="1159239" y="2608916"/>
            <a:ext cx="29772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25" lIns="72075" spcFirstLastPara="1" rIns="72075" wrap="square" tIns="3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6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Case Study: Raising Impact for Smallholder Farmers’ Incomes</a:t>
            </a:r>
            <a:endParaRPr i="0" sz="1246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4"/>
          <p:cNvSpPr txBox="1"/>
          <p:nvPr>
            <p:ph idx="12" type="sldNum"/>
          </p:nvPr>
        </p:nvSpPr>
        <p:spPr>
          <a:xfrm>
            <a:off x="8595309" y="4900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/>
          <p:nvPr/>
        </p:nvSpPr>
        <p:spPr>
          <a:xfrm>
            <a:off x="164600" y="70902"/>
            <a:ext cx="8887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C55"/>
              </a:buClr>
              <a:buSzPts val="2200"/>
              <a:buFont typeface="Roboto Serif"/>
              <a:buNone/>
            </a:pPr>
            <a:r>
              <a:rPr b="1" lang="en">
                <a:solidFill>
                  <a:srgbClr val="203C55"/>
                </a:solidFill>
                <a:latin typeface="Tahoma"/>
                <a:ea typeface="Tahoma"/>
                <a:cs typeface="Tahoma"/>
                <a:sym typeface="Tahoma"/>
              </a:rPr>
              <a:t>We identify high-impact opportunities, validate with experts, evaluate cost-effectiveness, and connect donors to vetted organisations</a:t>
            </a:r>
            <a:endParaRPr b="1" i="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8" name="Google Shape;78;p5"/>
          <p:cNvGrpSpPr/>
          <p:nvPr/>
        </p:nvGrpSpPr>
        <p:grpSpPr>
          <a:xfrm flipH="1" rot="5400000">
            <a:off x="-2530022" y="2534303"/>
            <a:ext cx="5145363" cy="85331"/>
            <a:chOff x="0" y="0"/>
            <a:chExt cx="9144060" cy="164700"/>
          </a:xfrm>
        </p:grpSpPr>
        <p:sp>
          <p:nvSpPr>
            <p:cNvPr id="79" name="Google Shape;79;p5"/>
            <p:cNvSpPr/>
            <p:nvPr/>
          </p:nvSpPr>
          <p:spPr>
            <a:xfrm>
              <a:off x="0" y="0"/>
              <a:ext cx="914400" cy="164700"/>
            </a:xfrm>
            <a:prstGeom prst="rect">
              <a:avLst/>
            </a:prstGeom>
            <a:solidFill>
              <a:srgbClr val="203C55"/>
            </a:solidFill>
            <a:ln cap="flat" cmpd="sng" w="6575">
              <a:solidFill>
                <a:srgbClr val="203C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914400" y="0"/>
              <a:ext cx="2377500" cy="164700"/>
            </a:xfrm>
            <a:prstGeom prst="rect">
              <a:avLst/>
            </a:prstGeom>
            <a:solidFill>
              <a:srgbClr val="3A6D9C">
                <a:alpha val="65100"/>
              </a:srgbClr>
            </a:solidFill>
            <a:ln cap="flat" cmpd="sng" w="6575">
              <a:solidFill>
                <a:srgbClr val="3A6D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3291840" y="0"/>
              <a:ext cx="1463100" cy="164700"/>
            </a:xfrm>
            <a:prstGeom prst="rect">
              <a:avLst/>
            </a:prstGeom>
            <a:solidFill>
              <a:srgbClr val="C09D4B"/>
            </a:solidFill>
            <a:ln cap="flat" cmpd="sng" w="6575">
              <a:solidFill>
                <a:srgbClr val="C09D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4754880" y="0"/>
              <a:ext cx="457200" cy="164700"/>
            </a:xfrm>
            <a:prstGeom prst="rect">
              <a:avLst/>
            </a:prstGeom>
            <a:solidFill>
              <a:srgbClr val="C09D4B">
                <a:alpha val="74900"/>
              </a:srgbClr>
            </a:solidFill>
            <a:ln cap="flat" cmpd="sng" w="6575">
              <a:solidFill>
                <a:srgbClr val="C09D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5212080" y="0"/>
              <a:ext cx="2469000" cy="164700"/>
            </a:xfrm>
            <a:prstGeom prst="rect">
              <a:avLst/>
            </a:prstGeom>
            <a:solidFill>
              <a:srgbClr val="203C55"/>
            </a:solidFill>
            <a:ln cap="flat" cmpd="sng" w="6575">
              <a:solidFill>
                <a:srgbClr val="203C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7680960" y="0"/>
              <a:ext cx="1463100" cy="164700"/>
            </a:xfrm>
            <a:prstGeom prst="rect">
              <a:avLst/>
            </a:prstGeom>
            <a:solidFill>
              <a:srgbClr val="C09D4B"/>
            </a:solidFill>
            <a:ln cap="flat" cmpd="sng" w="6575">
              <a:solidFill>
                <a:srgbClr val="C09D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" name="Google Shape;85;p5"/>
          <p:cNvGrpSpPr/>
          <p:nvPr/>
        </p:nvGrpSpPr>
        <p:grpSpPr>
          <a:xfrm>
            <a:off x="564712" y="990875"/>
            <a:ext cx="3938700" cy="1761900"/>
            <a:chOff x="365450" y="990875"/>
            <a:chExt cx="3938700" cy="1761900"/>
          </a:xfrm>
        </p:grpSpPr>
        <p:sp>
          <p:nvSpPr>
            <p:cNvPr id="86" name="Google Shape;86;p5"/>
            <p:cNvSpPr/>
            <p:nvPr/>
          </p:nvSpPr>
          <p:spPr>
            <a:xfrm>
              <a:off x="365450" y="990875"/>
              <a:ext cx="3938700" cy="1761900"/>
            </a:xfrm>
            <a:prstGeom prst="rect">
              <a:avLst/>
            </a:prstGeom>
            <a:solidFill>
              <a:srgbClr val="D2B980"/>
            </a:solidFill>
            <a:ln>
              <a:noFill/>
            </a:ln>
          </p:spPr>
          <p:txBody>
            <a:bodyPr anchorCtr="0" anchor="ctr" bIns="111450" lIns="111450" spcFirstLastPara="1" rIns="111450" wrap="square" tIns="11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A0A0A"/>
                </a:solidFill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365450" y="990876"/>
              <a:ext cx="3938700" cy="24900"/>
            </a:xfrm>
            <a:prstGeom prst="rect">
              <a:avLst/>
            </a:prstGeom>
            <a:solidFill>
              <a:srgbClr val="D2B980"/>
            </a:solidFill>
            <a:ln>
              <a:noFill/>
            </a:ln>
          </p:spPr>
          <p:txBody>
            <a:bodyPr anchorCtr="0" anchor="ctr" bIns="100475" lIns="100475" spcFirstLastPara="1" rIns="100475" wrap="square" tIns="100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A0A0A"/>
                </a:solidFill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3286644" y="1073474"/>
              <a:ext cx="776700" cy="192600"/>
            </a:xfrm>
            <a:prstGeom prst="rect">
              <a:avLst/>
            </a:prstGeom>
            <a:solidFill>
              <a:srgbClr val="D2B9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C4973F"/>
                </a:buClr>
                <a:buSzPts val="1097"/>
                <a:buFont typeface="Calibri"/>
                <a:buNone/>
              </a:pPr>
              <a:r>
                <a:rPr b="1" i="0" lang="en" sz="1097" u="none" cap="none" strike="noStrike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b="0" i="0" sz="1097" u="none" cap="none" strike="noStrik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1109975" y="1277125"/>
              <a:ext cx="2343900" cy="426900"/>
            </a:xfrm>
            <a:prstGeom prst="rect">
              <a:avLst/>
            </a:prstGeom>
            <a:solidFill>
              <a:srgbClr val="D2B9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85"/>
                <a:buFont typeface="Calibri"/>
                <a:buNone/>
              </a:pPr>
              <a:r>
                <a:rPr b="1" i="0" lang="en" sz="1585" u="none" cap="none" strike="noStrike">
                  <a:solidFill>
                    <a:srgbClr val="0A0A0A"/>
                  </a:solidFill>
                  <a:latin typeface="Roboto"/>
                  <a:ea typeface="Roboto"/>
                  <a:cs typeface="Roboto"/>
                  <a:sym typeface="Roboto"/>
                </a:rPr>
                <a:t>Cause-Area</a:t>
              </a:r>
              <a:r>
                <a:rPr lang="en" sz="1585">
                  <a:solidFill>
                    <a:srgbClr val="0A0A0A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i="0" lang="en" sz="1585" u="none" cap="none" strike="noStrike">
                  <a:solidFill>
                    <a:srgbClr val="0A0A0A"/>
                  </a:solidFill>
                  <a:latin typeface="Roboto"/>
                  <a:ea typeface="Roboto"/>
                  <a:cs typeface="Roboto"/>
                  <a:sym typeface="Roboto"/>
                </a:rPr>
                <a:t>Research</a:t>
              </a:r>
              <a:endParaRPr i="0" sz="1585" u="none" cap="none" strike="noStrike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1109975" y="1814050"/>
              <a:ext cx="3045900" cy="797100"/>
            </a:xfrm>
            <a:prstGeom prst="rect">
              <a:avLst/>
            </a:prstGeom>
            <a:solidFill>
              <a:srgbClr val="D2B9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E0D0"/>
                </a:buClr>
                <a:buSzPts val="975"/>
                <a:buFont typeface="Calibri"/>
                <a:buNone/>
              </a:pPr>
              <a:r>
                <a:rPr lang="en" sz="1200">
                  <a:solidFill>
                    <a:srgbClr val="0A0A0A"/>
                  </a:solidFill>
                  <a:latin typeface="Roboto"/>
                  <a:ea typeface="Roboto"/>
                  <a:cs typeface="Roboto"/>
                  <a:sym typeface="Roboto"/>
                </a:rPr>
                <a:t>State and sector analyses to identify areas for maximizing philanthropic investment potential</a:t>
              </a:r>
              <a:endParaRPr i="0" sz="1200" u="none" cap="none" strike="noStrike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1" name="Google Shape;91;p5"/>
          <p:cNvGrpSpPr/>
          <p:nvPr/>
        </p:nvGrpSpPr>
        <p:grpSpPr>
          <a:xfrm>
            <a:off x="4613709" y="990874"/>
            <a:ext cx="3938700" cy="1761901"/>
            <a:chOff x="4414447" y="990874"/>
            <a:chExt cx="3938700" cy="1761901"/>
          </a:xfrm>
        </p:grpSpPr>
        <p:sp>
          <p:nvSpPr>
            <p:cNvPr id="92" name="Google Shape;92;p5"/>
            <p:cNvSpPr/>
            <p:nvPr/>
          </p:nvSpPr>
          <p:spPr>
            <a:xfrm>
              <a:off x="4414447" y="990875"/>
              <a:ext cx="3938700" cy="1761900"/>
            </a:xfrm>
            <a:prstGeom prst="rect">
              <a:avLst/>
            </a:prstGeom>
            <a:solidFill>
              <a:srgbClr val="D2B980"/>
            </a:solidFill>
            <a:ln>
              <a:noFill/>
            </a:ln>
          </p:spPr>
          <p:txBody>
            <a:bodyPr anchorCtr="0" anchor="ctr" bIns="111450" lIns="111450" spcFirstLastPara="1" rIns="111450" wrap="square" tIns="11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A0A0A"/>
                </a:solidFill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4414619" y="990874"/>
              <a:ext cx="3938400" cy="24900"/>
            </a:xfrm>
            <a:prstGeom prst="rect">
              <a:avLst/>
            </a:prstGeom>
            <a:solidFill>
              <a:srgbClr val="D2B980"/>
            </a:solidFill>
            <a:ln>
              <a:noFill/>
            </a:ln>
          </p:spPr>
          <p:txBody>
            <a:bodyPr anchorCtr="0" anchor="ctr" bIns="100475" lIns="100475" spcFirstLastPara="1" rIns="100475" wrap="square" tIns="100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A0A0A"/>
                </a:solidFill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7335640" y="1073474"/>
              <a:ext cx="776700" cy="192600"/>
            </a:xfrm>
            <a:prstGeom prst="rect">
              <a:avLst/>
            </a:prstGeom>
            <a:solidFill>
              <a:srgbClr val="D2B9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C4973F"/>
                </a:buClr>
                <a:buSzPts val="1097"/>
                <a:buFont typeface="Calibri"/>
                <a:buNone/>
              </a:pPr>
              <a:r>
                <a:rPr b="1" i="0" lang="en" sz="1097" u="none" cap="none" strike="noStrike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b="0" i="0" sz="1097" u="none" cap="none" strike="noStrik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5187524" y="1277125"/>
              <a:ext cx="2044200" cy="426900"/>
            </a:xfrm>
            <a:prstGeom prst="rect">
              <a:avLst/>
            </a:prstGeom>
            <a:solidFill>
              <a:srgbClr val="D2B9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85"/>
                <a:buFont typeface="Calibri"/>
                <a:buNone/>
              </a:pPr>
              <a:r>
                <a:rPr b="1" i="0" lang="en" sz="1585" u="none" cap="none" strike="noStrike">
                  <a:solidFill>
                    <a:srgbClr val="0A0A0A"/>
                  </a:solidFill>
                  <a:latin typeface="Roboto"/>
                  <a:ea typeface="Roboto"/>
                  <a:cs typeface="Roboto"/>
                  <a:sym typeface="Roboto"/>
                </a:rPr>
                <a:t>Expert</a:t>
              </a:r>
              <a:r>
                <a:rPr lang="en" sz="1585">
                  <a:solidFill>
                    <a:srgbClr val="0A0A0A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i="0" lang="en" sz="1585" u="none" cap="none" strike="noStrike">
                  <a:solidFill>
                    <a:srgbClr val="0A0A0A"/>
                  </a:solidFill>
                  <a:latin typeface="Roboto"/>
                  <a:ea typeface="Roboto"/>
                  <a:cs typeface="Roboto"/>
                  <a:sym typeface="Roboto"/>
                </a:rPr>
                <a:t>Engagement</a:t>
              </a:r>
              <a:endParaRPr i="0" sz="1585" u="none" cap="none" strike="noStrike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5187525" y="1814050"/>
              <a:ext cx="3017400" cy="797100"/>
            </a:xfrm>
            <a:prstGeom prst="rect">
              <a:avLst/>
            </a:prstGeom>
            <a:solidFill>
              <a:srgbClr val="D2B9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E0D0"/>
                </a:buClr>
                <a:buSzPts val="975"/>
                <a:buFont typeface="Calibri"/>
                <a:buNone/>
              </a:pPr>
              <a:r>
                <a:rPr lang="en" sz="1200">
                  <a:solidFill>
                    <a:srgbClr val="0A0A0A"/>
                  </a:solidFill>
                  <a:latin typeface="Roboto"/>
                  <a:ea typeface="Roboto"/>
                  <a:cs typeface="Roboto"/>
                  <a:sym typeface="Roboto"/>
                </a:rPr>
                <a:t>Experts and field partners validate research, implementation fidelity and feasibility</a:t>
              </a:r>
              <a:endParaRPr i="0" sz="1200" u="none" cap="none" strike="noStrike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7" name="Google Shape;97;p5"/>
          <p:cNvGrpSpPr/>
          <p:nvPr/>
        </p:nvGrpSpPr>
        <p:grpSpPr>
          <a:xfrm>
            <a:off x="569146" y="2915753"/>
            <a:ext cx="3938700" cy="1761900"/>
            <a:chOff x="369884" y="2915753"/>
            <a:chExt cx="3938700" cy="1761900"/>
          </a:xfrm>
        </p:grpSpPr>
        <p:sp>
          <p:nvSpPr>
            <p:cNvPr id="98" name="Google Shape;98;p5"/>
            <p:cNvSpPr/>
            <p:nvPr/>
          </p:nvSpPr>
          <p:spPr>
            <a:xfrm>
              <a:off x="369884" y="2915753"/>
              <a:ext cx="3938700" cy="1761900"/>
            </a:xfrm>
            <a:prstGeom prst="rect">
              <a:avLst/>
            </a:prstGeom>
            <a:solidFill>
              <a:srgbClr val="D2B980"/>
            </a:solidFill>
            <a:ln>
              <a:noFill/>
            </a:ln>
          </p:spPr>
          <p:txBody>
            <a:bodyPr anchorCtr="0" anchor="ctr" bIns="111450" lIns="111450" spcFirstLastPara="1" rIns="111450" wrap="square" tIns="11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A0A0A"/>
                </a:solidFill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369884" y="2915754"/>
              <a:ext cx="3938700" cy="24900"/>
            </a:xfrm>
            <a:prstGeom prst="rect">
              <a:avLst/>
            </a:prstGeom>
            <a:solidFill>
              <a:srgbClr val="D2B980"/>
            </a:solidFill>
            <a:ln>
              <a:noFill/>
            </a:ln>
          </p:spPr>
          <p:txBody>
            <a:bodyPr anchorCtr="0" anchor="ctr" bIns="100475" lIns="100475" spcFirstLastPara="1" rIns="100475" wrap="square" tIns="100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A0A0A"/>
                </a:solidFill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3291078" y="2998352"/>
              <a:ext cx="776700" cy="192600"/>
            </a:xfrm>
            <a:prstGeom prst="rect">
              <a:avLst/>
            </a:prstGeom>
            <a:solidFill>
              <a:srgbClr val="D2B9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C4973F"/>
                </a:buClr>
                <a:buSzPts val="1097"/>
                <a:buFont typeface="Calibri"/>
                <a:buNone/>
              </a:pPr>
              <a:r>
                <a:rPr b="1" i="0" lang="en" sz="1097" u="none" cap="none" strike="noStrike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b="1" lang="en" sz="1097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097" u="none" cap="none" strike="noStrik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1108125" y="3202000"/>
              <a:ext cx="2313600" cy="426900"/>
            </a:xfrm>
            <a:prstGeom prst="rect">
              <a:avLst/>
            </a:prstGeom>
            <a:solidFill>
              <a:srgbClr val="D2B9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85"/>
                <a:buFont typeface="Calibri"/>
                <a:buNone/>
              </a:pPr>
              <a:r>
                <a:rPr b="1" lang="en" sz="1585">
                  <a:solidFill>
                    <a:srgbClr val="0A0A0A"/>
                  </a:solidFill>
                  <a:latin typeface="Roboto"/>
                  <a:ea typeface="Roboto"/>
                  <a:cs typeface="Roboto"/>
                  <a:sym typeface="Roboto"/>
                </a:rPr>
                <a:t>Structured Evaluation</a:t>
              </a:r>
              <a:endParaRPr i="0" sz="1585" u="none" cap="none" strike="noStrike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1108126" y="3738925"/>
              <a:ext cx="3052200" cy="797100"/>
            </a:xfrm>
            <a:prstGeom prst="rect">
              <a:avLst/>
            </a:prstGeom>
            <a:solidFill>
              <a:srgbClr val="D2B9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E0D0"/>
                </a:buClr>
                <a:buSzPts val="975"/>
                <a:buFont typeface="Calibri"/>
                <a:buNone/>
              </a:pPr>
              <a:r>
                <a:rPr lang="en" sz="1200">
                  <a:solidFill>
                    <a:srgbClr val="0A0A0A"/>
                  </a:solidFill>
                  <a:latin typeface="Roboto"/>
                  <a:ea typeface="Roboto"/>
                  <a:cs typeface="Roboto"/>
                  <a:sym typeface="Roboto"/>
                </a:rPr>
                <a:t>Cost-effectiveness analysis using adapted GiveWell and Founders Pledge methods</a:t>
              </a:r>
              <a:endParaRPr i="0" sz="1200" u="none" cap="none" strike="noStrike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3" name="Google Shape;103;p5"/>
          <p:cNvGrpSpPr/>
          <p:nvPr/>
        </p:nvGrpSpPr>
        <p:grpSpPr>
          <a:xfrm>
            <a:off x="4618143" y="2915752"/>
            <a:ext cx="3938700" cy="1761901"/>
            <a:chOff x="4418881" y="2915752"/>
            <a:chExt cx="3938700" cy="1761901"/>
          </a:xfrm>
        </p:grpSpPr>
        <p:sp>
          <p:nvSpPr>
            <p:cNvPr id="104" name="Google Shape;104;p5"/>
            <p:cNvSpPr/>
            <p:nvPr/>
          </p:nvSpPr>
          <p:spPr>
            <a:xfrm>
              <a:off x="4418881" y="2915753"/>
              <a:ext cx="3938700" cy="1761900"/>
            </a:xfrm>
            <a:prstGeom prst="rect">
              <a:avLst/>
            </a:prstGeom>
            <a:solidFill>
              <a:srgbClr val="D2B980"/>
            </a:solidFill>
            <a:ln>
              <a:noFill/>
            </a:ln>
          </p:spPr>
          <p:txBody>
            <a:bodyPr anchorCtr="0" anchor="ctr" bIns="111450" lIns="111450" spcFirstLastPara="1" rIns="111450" wrap="square" tIns="11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A0A0A"/>
                </a:solidFill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4419053" y="2915752"/>
              <a:ext cx="3938400" cy="24900"/>
            </a:xfrm>
            <a:prstGeom prst="rect">
              <a:avLst/>
            </a:prstGeom>
            <a:solidFill>
              <a:srgbClr val="D2B980"/>
            </a:solidFill>
            <a:ln>
              <a:noFill/>
            </a:ln>
          </p:spPr>
          <p:txBody>
            <a:bodyPr anchorCtr="0" anchor="ctr" bIns="100475" lIns="100475" spcFirstLastPara="1" rIns="100475" wrap="square" tIns="100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A0A0A"/>
                </a:solidFill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7340074" y="2998352"/>
              <a:ext cx="776700" cy="192600"/>
            </a:xfrm>
            <a:prstGeom prst="rect">
              <a:avLst/>
            </a:prstGeom>
            <a:solidFill>
              <a:srgbClr val="D2B9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C4973F"/>
                </a:buClr>
                <a:buSzPts val="1097"/>
                <a:buFont typeface="Calibri"/>
                <a:buNone/>
              </a:pPr>
              <a:r>
                <a:rPr b="1" i="0" lang="en" sz="1097" u="none" cap="none" strike="noStrike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b="1" lang="en" sz="1097">
                  <a:solidFill>
                    <a:srgbClr val="0A0A0A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097" u="none" cap="none" strike="noStrik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5208950" y="3202000"/>
              <a:ext cx="2065500" cy="426900"/>
            </a:xfrm>
            <a:prstGeom prst="rect">
              <a:avLst/>
            </a:prstGeom>
            <a:solidFill>
              <a:srgbClr val="D2B9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85"/>
                <a:buFont typeface="Calibri"/>
                <a:buNone/>
              </a:pPr>
              <a:r>
                <a:rPr b="1" lang="en" sz="1585">
                  <a:solidFill>
                    <a:srgbClr val="0A0A0A"/>
                  </a:solidFill>
                  <a:latin typeface="Roboto"/>
                  <a:ea typeface="Roboto"/>
                  <a:cs typeface="Roboto"/>
                  <a:sym typeface="Roboto"/>
                </a:rPr>
                <a:t>Capital Deployment</a:t>
              </a:r>
              <a:endParaRPr i="0" sz="1585" u="none" cap="none" strike="noStrike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5166126" y="3738925"/>
              <a:ext cx="3043200" cy="797100"/>
            </a:xfrm>
            <a:prstGeom prst="rect">
              <a:avLst/>
            </a:prstGeom>
            <a:solidFill>
              <a:srgbClr val="D2B9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E0D0"/>
                </a:buClr>
                <a:buSzPts val="975"/>
                <a:buFont typeface="Calibri"/>
                <a:buNone/>
              </a:pPr>
              <a:r>
                <a:rPr lang="en" sz="1200">
                  <a:solidFill>
                    <a:srgbClr val="0A0A0A"/>
                  </a:solidFill>
                  <a:latin typeface="Roboto"/>
                  <a:ea typeface="Roboto"/>
                  <a:cs typeface="Roboto"/>
                  <a:sym typeface="Roboto"/>
                </a:rPr>
                <a:t>Donors matched with vetted, deployment-ready organisations</a:t>
              </a:r>
              <a:endParaRPr i="0" sz="1200" u="none" cap="none" strike="noStrike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09" name="Google Shape;10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400" y="1388100"/>
            <a:ext cx="457199" cy="45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500" y="1388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500" y="3300400"/>
            <a:ext cx="457199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9400" y="3300400"/>
            <a:ext cx="457199" cy="45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 txBox="1"/>
          <p:nvPr>
            <p:ph idx="12" type="sldNum"/>
          </p:nvPr>
        </p:nvSpPr>
        <p:spPr>
          <a:xfrm>
            <a:off x="8595309" y="4900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/>
          <p:nvPr/>
        </p:nvSpPr>
        <p:spPr>
          <a:xfrm>
            <a:off x="320040" y="970884"/>
            <a:ext cx="8503800" cy="1115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320040" y="970884"/>
            <a:ext cx="63900" cy="1115700"/>
          </a:xfrm>
          <a:prstGeom prst="rect">
            <a:avLst/>
          </a:prstGeom>
          <a:solidFill>
            <a:srgbClr val="C09D4B"/>
          </a:solidFill>
          <a:ln cap="flat" cmpd="sng" w="12700">
            <a:solidFill>
              <a:srgbClr val="C09D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502920" y="1162908"/>
            <a:ext cx="713100" cy="713100"/>
          </a:xfrm>
          <a:prstGeom prst="ellipse">
            <a:avLst/>
          </a:prstGeom>
          <a:solidFill>
            <a:srgbClr val="C09D4B"/>
          </a:solidFill>
          <a:ln cap="flat" cmpd="sng" w="12700">
            <a:solidFill>
              <a:srgbClr val="C09D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" y="129092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/>
          <p:nvPr/>
        </p:nvSpPr>
        <p:spPr>
          <a:xfrm>
            <a:off x="1417320" y="1108044"/>
            <a:ext cx="7223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C55"/>
              </a:buClr>
              <a:buSzPts val="1200"/>
              <a:buFont typeface="Tahoma"/>
              <a:buNone/>
            </a:pPr>
            <a:r>
              <a:rPr b="1" i="0" lang="en" sz="1200" u="none" cap="none" strike="noStrike">
                <a:solidFill>
                  <a:srgbClr val="203C55"/>
                </a:solidFill>
                <a:latin typeface="Roboto"/>
                <a:ea typeface="Roboto"/>
                <a:cs typeface="Roboto"/>
                <a:sym typeface="Roboto"/>
              </a:rPr>
              <a:t>Communication Cadence</a:t>
            </a:r>
            <a:endParaRPr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417320" y="1446372"/>
            <a:ext cx="7223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58"/>
              </a:buClr>
              <a:buSzPts val="1000"/>
              <a:buFont typeface="Roboto"/>
              <a:buNone/>
            </a:pPr>
            <a:r>
              <a:rPr i="0" lang="en" sz="1100" u="none" cap="none" strike="noStrike">
                <a:solidFill>
                  <a:srgbClr val="3A4A58"/>
                </a:solidFill>
                <a:latin typeface="Roboto"/>
                <a:ea typeface="Roboto"/>
                <a:cs typeface="Roboto"/>
                <a:sym typeface="Roboto"/>
              </a:rPr>
              <a:t>Weekly calls establish a rhythm for research presentations, operational updates, and collaborative problem-solving — keeping the philanthropist fully informed.</a:t>
            </a:r>
            <a:endParaRPr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20040" y="2232756"/>
            <a:ext cx="8503800" cy="1115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320040" y="2232756"/>
            <a:ext cx="63900" cy="1115700"/>
          </a:xfrm>
          <a:prstGeom prst="rect">
            <a:avLst/>
          </a:prstGeom>
          <a:solidFill>
            <a:srgbClr val="203C55"/>
          </a:solidFill>
          <a:ln cap="flat" cmpd="sng" w="12700">
            <a:solidFill>
              <a:srgbClr val="203C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502920" y="2424780"/>
            <a:ext cx="713100" cy="713100"/>
          </a:xfrm>
          <a:prstGeom prst="ellipse">
            <a:avLst/>
          </a:prstGeom>
          <a:solidFill>
            <a:srgbClr val="203C55"/>
          </a:solidFill>
          <a:ln cap="flat" cmpd="sng" w="12700">
            <a:solidFill>
              <a:srgbClr val="203C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255279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/>
          <p:nvPr/>
        </p:nvSpPr>
        <p:spPr>
          <a:xfrm>
            <a:off x="1417320" y="2369916"/>
            <a:ext cx="7223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C55"/>
              </a:buClr>
              <a:buSzPts val="1200"/>
              <a:buFont typeface="Tahoma"/>
              <a:buNone/>
            </a:pPr>
            <a:r>
              <a:rPr b="1" i="0" lang="en" sz="1200" u="none" cap="none" strike="noStrike">
                <a:solidFill>
                  <a:srgbClr val="203C55"/>
                </a:solidFill>
                <a:latin typeface="Roboto"/>
                <a:ea typeface="Roboto"/>
                <a:cs typeface="Roboto"/>
                <a:sym typeface="Roboto"/>
              </a:rPr>
              <a:t>Multi-disciplinary Team</a:t>
            </a:r>
            <a:endParaRPr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417320" y="2708244"/>
            <a:ext cx="7223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58"/>
              </a:buClr>
              <a:buSzPts val="1000"/>
              <a:buFont typeface="Roboto"/>
              <a:buNone/>
            </a:pPr>
            <a:r>
              <a:rPr i="0" lang="en" sz="1100" u="none" cap="none" strike="noStrike">
                <a:solidFill>
                  <a:srgbClr val="3A4A58"/>
                </a:solidFill>
                <a:latin typeface="Roboto"/>
                <a:ea typeface="Roboto"/>
                <a:cs typeface="Roboto"/>
                <a:sym typeface="Roboto"/>
              </a:rPr>
              <a:t>Our team combines analysts, sector experts, and senior leaders who bring a strategic ecosystem view across agriculture, health, education, and livelihoods.</a:t>
            </a:r>
            <a:endParaRPr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20040" y="3494628"/>
            <a:ext cx="8503800" cy="1115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320040" y="3494628"/>
            <a:ext cx="63900" cy="1115700"/>
          </a:xfrm>
          <a:prstGeom prst="rect">
            <a:avLst/>
          </a:prstGeom>
          <a:solidFill>
            <a:srgbClr val="3A6D9C"/>
          </a:solidFill>
          <a:ln cap="flat" cmpd="sng" w="12700">
            <a:solidFill>
              <a:srgbClr val="3A6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502920" y="3686652"/>
            <a:ext cx="713100" cy="713100"/>
          </a:xfrm>
          <a:prstGeom prst="ellipse">
            <a:avLst/>
          </a:prstGeom>
          <a:solidFill>
            <a:srgbClr val="3A6D9C"/>
          </a:solidFill>
          <a:ln cap="flat" cmpd="sng" w="12700">
            <a:solidFill>
              <a:srgbClr val="3A6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936" y="38146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1417320" y="3631788"/>
            <a:ext cx="7223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C55"/>
              </a:buClr>
              <a:buSzPts val="1200"/>
              <a:buFont typeface="Tahoma"/>
              <a:buNone/>
            </a:pPr>
            <a:r>
              <a:rPr b="1" i="0" lang="en" sz="1200" u="none" cap="none" strike="noStrike">
                <a:solidFill>
                  <a:srgbClr val="203C55"/>
                </a:solidFill>
                <a:latin typeface="Roboto"/>
                <a:ea typeface="Roboto"/>
                <a:cs typeface="Roboto"/>
                <a:sym typeface="Roboto"/>
              </a:rPr>
              <a:t>Journey with the Philanthropist</a:t>
            </a:r>
            <a:endParaRPr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417320" y="3970116"/>
            <a:ext cx="7223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58"/>
              </a:buClr>
              <a:buSzPts val="1000"/>
              <a:buFont typeface="Roboto"/>
              <a:buNone/>
            </a:pPr>
            <a:r>
              <a:rPr i="0" lang="en" sz="1100" u="none" cap="none" strike="noStrike">
                <a:solidFill>
                  <a:srgbClr val="3A4A58"/>
                </a:solidFill>
                <a:latin typeface="Roboto"/>
                <a:ea typeface="Roboto"/>
                <a:cs typeface="Roboto"/>
                <a:sym typeface="Roboto"/>
              </a:rPr>
              <a:t>The philanthropist partners with RIO to drive key decisions: target beneficiaries, impact thresholds, scale, priority geographies, and implementation models.</a:t>
            </a:r>
            <a:endParaRPr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64600" y="63733"/>
            <a:ext cx="8887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C55"/>
              </a:buClr>
              <a:buSzPts val="2200"/>
              <a:buFont typeface="Roboto Serif"/>
              <a:buNone/>
            </a:pPr>
            <a:r>
              <a:rPr b="1" lang="en">
                <a:solidFill>
                  <a:srgbClr val="203C55"/>
                </a:solidFill>
                <a:latin typeface="Tahoma"/>
                <a:ea typeface="Tahoma"/>
                <a:cs typeface="Tahoma"/>
                <a:sym typeface="Tahoma"/>
              </a:rPr>
              <a:t>Raising Impact offers structured communication, multidisciplinary expertise, and close partnership guiding philanthropists’ strategic decisions on scale and impact</a:t>
            </a:r>
            <a:endParaRPr b="1" i="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38" name="Google Shape;138;p6"/>
          <p:cNvGrpSpPr/>
          <p:nvPr/>
        </p:nvGrpSpPr>
        <p:grpSpPr>
          <a:xfrm flipH="1" rot="5400000">
            <a:off x="-2530022" y="2533903"/>
            <a:ext cx="5145363" cy="85331"/>
            <a:chOff x="0" y="0"/>
            <a:chExt cx="9144060" cy="164700"/>
          </a:xfrm>
        </p:grpSpPr>
        <p:sp>
          <p:nvSpPr>
            <p:cNvPr id="139" name="Google Shape;139;p6"/>
            <p:cNvSpPr/>
            <p:nvPr/>
          </p:nvSpPr>
          <p:spPr>
            <a:xfrm>
              <a:off x="0" y="0"/>
              <a:ext cx="914400" cy="164700"/>
            </a:xfrm>
            <a:prstGeom prst="rect">
              <a:avLst/>
            </a:prstGeom>
            <a:solidFill>
              <a:srgbClr val="203C55"/>
            </a:solidFill>
            <a:ln cap="flat" cmpd="sng" w="6575">
              <a:solidFill>
                <a:srgbClr val="203C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914400" y="0"/>
              <a:ext cx="2377500" cy="164700"/>
            </a:xfrm>
            <a:prstGeom prst="rect">
              <a:avLst/>
            </a:prstGeom>
            <a:solidFill>
              <a:srgbClr val="3A6D9C">
                <a:alpha val="65100"/>
              </a:srgbClr>
            </a:solidFill>
            <a:ln cap="flat" cmpd="sng" w="6575">
              <a:solidFill>
                <a:srgbClr val="3A6D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3291840" y="0"/>
              <a:ext cx="1463100" cy="164700"/>
            </a:xfrm>
            <a:prstGeom prst="rect">
              <a:avLst/>
            </a:prstGeom>
            <a:solidFill>
              <a:srgbClr val="C09D4B"/>
            </a:solidFill>
            <a:ln cap="flat" cmpd="sng" w="6575">
              <a:solidFill>
                <a:srgbClr val="C09D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4754880" y="0"/>
              <a:ext cx="457200" cy="164700"/>
            </a:xfrm>
            <a:prstGeom prst="rect">
              <a:avLst/>
            </a:prstGeom>
            <a:solidFill>
              <a:srgbClr val="C09D4B">
                <a:alpha val="74900"/>
              </a:srgbClr>
            </a:solidFill>
            <a:ln cap="flat" cmpd="sng" w="6575">
              <a:solidFill>
                <a:srgbClr val="C09D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5212080" y="0"/>
              <a:ext cx="2469000" cy="164700"/>
            </a:xfrm>
            <a:prstGeom prst="rect">
              <a:avLst/>
            </a:prstGeom>
            <a:solidFill>
              <a:srgbClr val="203C55"/>
            </a:solidFill>
            <a:ln cap="flat" cmpd="sng" w="6575">
              <a:solidFill>
                <a:srgbClr val="203C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7680960" y="0"/>
              <a:ext cx="1463100" cy="164700"/>
            </a:xfrm>
            <a:prstGeom prst="rect">
              <a:avLst/>
            </a:prstGeom>
            <a:solidFill>
              <a:srgbClr val="C09D4B"/>
            </a:solidFill>
            <a:ln cap="flat" cmpd="sng" w="6575">
              <a:solidFill>
                <a:srgbClr val="C09D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6"/>
          <p:cNvSpPr txBox="1"/>
          <p:nvPr>
            <p:ph idx="12" type="sldNum"/>
          </p:nvPr>
        </p:nvSpPr>
        <p:spPr>
          <a:xfrm>
            <a:off x="8595309" y="4900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